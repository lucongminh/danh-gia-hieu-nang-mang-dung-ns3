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" charset="1" panose="00000500000000000000"/>
      <p:regular r:id="rId16"/>
    </p:embeddedFont>
    <p:embeddedFont>
      <p:font typeface="Fahkwang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3544">
            <a:off x="-3797973" y="-2846921"/>
            <a:ext cx="8825308" cy="8229600"/>
          </a:xfrm>
          <a:custGeom>
            <a:avLst/>
            <a:gdLst/>
            <a:ahLst/>
            <a:cxnLst/>
            <a:rect r="r" b="b" t="t" l="l"/>
            <a:pathLst>
              <a:path h="8229600" w="8825308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64473" y="2032435"/>
            <a:ext cx="14359054" cy="557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733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ĐÁNH GIÁ VÀ SO SÁNH HIỆU NĂNG GIAO THỨC TCP VÀ UDP TRÊN MẠNG WI-FI MẬT ĐỘ CAO DÙNG NS-3</a:t>
            </a:r>
          </a:p>
          <a:p>
            <a:pPr algn="ctr">
              <a:lnSpc>
                <a:spcPts val="87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450538" y="7804585"/>
            <a:ext cx="3971883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Sinh viên thực hiện: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92051" y="7804585"/>
            <a:ext cx="5861252" cy="999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7"/>
              </a:lnSpc>
              <a:spcBef>
                <a:spcPct val="0"/>
              </a:spcBef>
            </a:pPr>
            <a:r>
              <a:rPr lang="en-US" sz="30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Lữ Công Minh (106220223)</a:t>
            </a:r>
          </a:p>
          <a:p>
            <a:pPr algn="l">
              <a:lnSpc>
                <a:spcPts val="3987"/>
              </a:lnSpc>
              <a:spcBef>
                <a:spcPct val="0"/>
              </a:spcBef>
            </a:pPr>
            <a:r>
              <a:rPr lang="en-US" sz="30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Lâm Đức Duy (106220214)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92051" y="9001125"/>
            <a:ext cx="4273773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TS. Nguyễn Văn Hiếu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50538" y="9001125"/>
            <a:ext cx="138565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GVHD: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34527" y="1914594"/>
            <a:ext cx="6024773" cy="6024773"/>
          </a:xfrm>
          <a:custGeom>
            <a:avLst/>
            <a:gdLst/>
            <a:ahLst/>
            <a:cxnLst/>
            <a:rect r="r" b="b" t="t" l="l"/>
            <a:pathLst>
              <a:path h="6024773" w="6024773">
                <a:moveTo>
                  <a:pt x="0" y="0"/>
                </a:moveTo>
                <a:lnTo>
                  <a:pt x="6024773" y="0"/>
                </a:lnTo>
                <a:lnTo>
                  <a:pt x="6024773" y="6024773"/>
                </a:lnTo>
                <a:lnTo>
                  <a:pt x="0" y="6024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7398" y="2657475"/>
            <a:ext cx="10739129" cy="494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Vấn đề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Nhu cầu sử dụng Wi-Fi mật độ cao ngày càng tăng (Trường học, Sự kiện, Cafe).</a:t>
            </a:r>
          </a:p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Vấn đề gặp phải: Nghẽn mạng (Congestion), Độ trễ cao (High Delay), Mất kết nối.</a:t>
            </a:r>
          </a:p>
          <a:p>
            <a:pPr algn="l">
              <a:lnSpc>
                <a:spcPts val="3900"/>
              </a:lnSpc>
              <a:spcBef>
                <a:spcPct val="0"/>
              </a:spcBef>
            </a:pPr>
          </a:p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Mục tiêu:</a:t>
            </a:r>
          </a:p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Giới hạn chịu tải của mạng Wi-Fi 5 là bao nhiêu?</a:t>
            </a:r>
          </a:p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Trong môi trường đó, TCP và UDP cạnh tranh nhau như thế nào?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7398" y="990600"/>
            <a:ext cx="6576856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Vì sao chọn đề tài: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9670" y="771525"/>
            <a:ext cx="10166948" cy="872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Mô</a:t>
            </a: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hình mạng (Network Topology)</a:t>
            </a:r>
          </a:p>
          <a:p>
            <a:pPr algn="l" marL="647697" indent="-323848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Cấu trúc: Hình sao (Star Topology).</a:t>
            </a:r>
          </a:p>
          <a:p>
            <a:pPr algn="l" marL="647697" indent="-323848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Thành phần:</a:t>
            </a:r>
          </a:p>
          <a:p>
            <a:pPr algn="l" marL="1295394" indent="-431798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 Access Point (AP): Đặt tại trung tâm (0,0), đóng vai trò Server thu nhận dữ liệu.</a:t>
            </a:r>
          </a:p>
          <a:p>
            <a:pPr algn="l" marL="1295394" indent="-431798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Clients (Stations): Phân bố ngẫu nhiên trong bán kính 50m.</a:t>
            </a:r>
          </a:p>
          <a:p>
            <a:pPr algn="l" marL="647697" indent="-323848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Chuẩn Wi-Fi: IEEE 802.11ac (Wi-Fi 5).</a:t>
            </a:r>
          </a:p>
          <a:p>
            <a:pPr algn="l">
              <a:lnSpc>
                <a:spcPts val="3899"/>
              </a:lnSpc>
            </a:pP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Kịch bản mô phỏng:</a:t>
            </a:r>
          </a:p>
          <a:p>
            <a:pPr algn="l" marL="647697" indent="-323848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Lưu lượng hỗn hợp: Mỗi Client chạy song song 2 luồng dữ liệu:</a:t>
            </a:r>
          </a:p>
          <a:p>
            <a:pPr algn="l" marL="1295394" indent="-431798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TCP Flow: Mô phỏng tải Web/File .</a:t>
            </a:r>
          </a:p>
          <a:p>
            <a:pPr algn="l" marL="1295394" indent="-431798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UDP Flow: Mô phỏng Video/VoIP (Tốc độ cao, 1 Mbps/Client).</a:t>
            </a:r>
          </a:p>
          <a:p>
            <a:pPr algn="l" marL="647697" indent="-323848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Stress Test: Tăng dần số lượng Client từ 10 - 100 Node để tìm điểm gãy của hệ thống.</a:t>
            </a:r>
          </a:p>
          <a:p>
            <a:pPr algn="l">
              <a:lnSpc>
                <a:spcPts val="389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011584" y="2151867"/>
            <a:ext cx="6950857" cy="5983266"/>
          </a:xfrm>
          <a:custGeom>
            <a:avLst/>
            <a:gdLst/>
            <a:ahLst/>
            <a:cxnLst/>
            <a:rect r="r" b="b" t="t" l="l"/>
            <a:pathLst>
              <a:path h="5983266" w="6950857">
                <a:moveTo>
                  <a:pt x="0" y="0"/>
                </a:moveTo>
                <a:lnTo>
                  <a:pt x="6950857" y="0"/>
                </a:lnTo>
                <a:lnTo>
                  <a:pt x="6950857" y="5983266"/>
                </a:lnTo>
                <a:lnTo>
                  <a:pt x="0" y="5983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398" y="2657475"/>
            <a:ext cx="10739129" cy="395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Bộ công cụ (Tools)</a:t>
            </a:r>
          </a:p>
          <a:p>
            <a:pPr algn="l" marL="647700" indent="-323850" lvl="1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Mô phỏng: NS-3 (phiên bản 3.46.1) trên Ubuntu Linux.</a:t>
            </a:r>
          </a:p>
          <a:p>
            <a:pPr algn="l" marL="647700" indent="-323850" lvl="1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Đo lường: Module FlowMonitor (Tự động giám sát luồng, đếm gói tin).</a:t>
            </a:r>
          </a:p>
          <a:p>
            <a:pPr algn="l" marL="647700" indent="-323850" lvl="1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Phân tích: Python (Xử lý XML &amp; Vẽ biểu đồ Matplotlib).</a:t>
            </a:r>
          </a:p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Quy trình thực hiện (Workflow):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544018" y="432675"/>
            <a:ext cx="3285800" cy="9421650"/>
          </a:xfrm>
          <a:custGeom>
            <a:avLst/>
            <a:gdLst/>
            <a:ahLst/>
            <a:cxnLst/>
            <a:rect r="r" b="b" t="t" l="l"/>
            <a:pathLst>
              <a:path h="9421650" w="3285800">
                <a:moveTo>
                  <a:pt x="0" y="0"/>
                </a:moveTo>
                <a:lnTo>
                  <a:pt x="3285800" y="0"/>
                </a:lnTo>
                <a:lnTo>
                  <a:pt x="3285800" y="9421650"/>
                </a:lnTo>
                <a:lnTo>
                  <a:pt x="0" y="942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7398" y="990600"/>
            <a:ext cx="6576856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Vì sao chọn đề tài: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6347" y="2414383"/>
            <a:ext cx="15375306" cy="5458234"/>
          </a:xfrm>
          <a:custGeom>
            <a:avLst/>
            <a:gdLst/>
            <a:ahLst/>
            <a:cxnLst/>
            <a:rect r="r" b="b" t="t" l="l"/>
            <a:pathLst>
              <a:path h="5458234" w="15375306">
                <a:moveTo>
                  <a:pt x="0" y="0"/>
                </a:moveTo>
                <a:lnTo>
                  <a:pt x="15375306" y="0"/>
                </a:lnTo>
                <a:lnTo>
                  <a:pt x="15375306" y="5458234"/>
                </a:lnTo>
                <a:lnTo>
                  <a:pt x="0" y="5458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3251662" y="696912"/>
            <a:ext cx="14449104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KẾT QUẢ MÔ PHỎNG</a:t>
            </a: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8079" y="2291407"/>
            <a:ext cx="9506976" cy="5704186"/>
          </a:xfrm>
          <a:custGeom>
            <a:avLst/>
            <a:gdLst/>
            <a:ahLst/>
            <a:cxnLst/>
            <a:rect r="r" b="b" t="t" l="l"/>
            <a:pathLst>
              <a:path h="5704186" w="9506976">
                <a:moveTo>
                  <a:pt x="0" y="0"/>
                </a:moveTo>
                <a:lnTo>
                  <a:pt x="9506976" y="0"/>
                </a:lnTo>
                <a:lnTo>
                  <a:pt x="9506976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9976" y="3400425"/>
            <a:ext cx="8318104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Nhận xét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UDP</a:t>
            </a:r>
            <a:r>
              <a:rPr lang="en-US" sz="30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 (Đỏ):Đạt 74.88% tại 100 Client.</a:t>
            </a:r>
          </a:p>
          <a:p>
            <a:pPr algn="l">
              <a:lnSpc>
                <a:spcPts val="3900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TCP (Xanh): Duy trì ổn định luôn &lt; 18%.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 → UDP gây tắc nghẽn nghiêm trọng.</a:t>
            </a:r>
          </a:p>
          <a:p>
            <a:pPr algn="l">
              <a:lnSpc>
                <a:spcPts val="39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93222" y="393700"/>
            <a:ext cx="14449104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Kết quả mô phỏng: Tỷ lệ mất gói (Packet loss)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6751" y="2291407"/>
            <a:ext cx="9506976" cy="5704186"/>
          </a:xfrm>
          <a:custGeom>
            <a:avLst/>
            <a:gdLst/>
            <a:ahLst/>
            <a:cxnLst/>
            <a:rect r="r" b="b" t="t" l="l"/>
            <a:pathLst>
              <a:path h="5704186" w="9506976">
                <a:moveTo>
                  <a:pt x="0" y="0"/>
                </a:moveTo>
                <a:lnTo>
                  <a:pt x="9506976" y="0"/>
                </a:lnTo>
                <a:lnTo>
                  <a:pt x="9506976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9976" y="3152775"/>
            <a:ext cx="7792765" cy="395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Nhận xét: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UD</a:t>
            </a:r>
            <a:r>
              <a:rPr lang="en-US" sz="30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P: Chiếm dụng băng thông (&gt;22 Mbps).</a:t>
            </a:r>
          </a:p>
          <a:p>
            <a:pPr algn="l">
              <a:lnSpc>
                <a:spcPts val="3900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TCP: Bị chèn ép, giảm sâu (~1.3 Mbps).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→ Hiện tượng chèn ép băng thông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3222" y="194392"/>
            <a:ext cx="14449104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Kết quả mô phỏng</a:t>
            </a: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Thông lượng (Throughput)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3975" y="2291407"/>
            <a:ext cx="9506976" cy="5704186"/>
          </a:xfrm>
          <a:custGeom>
            <a:avLst/>
            <a:gdLst/>
            <a:ahLst/>
            <a:cxnLst/>
            <a:rect r="r" b="b" t="t" l="l"/>
            <a:pathLst>
              <a:path h="5704186" w="9506976">
                <a:moveTo>
                  <a:pt x="0" y="0"/>
                </a:moveTo>
                <a:lnTo>
                  <a:pt x="9506976" y="0"/>
                </a:lnTo>
                <a:lnTo>
                  <a:pt x="9506976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9976" y="3152775"/>
            <a:ext cx="7731410" cy="395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Nhận xét: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UDP (Đỏ): Gây độ trễ rất cao (&gt;210 ms) do hiện tượng tràn hàng đợi.</a:t>
            </a:r>
          </a:p>
          <a:p>
            <a:pPr algn="l">
              <a:lnSpc>
                <a:spcPts val="3900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TCP (Xanh): Duy trì độ trễ thấp hơn (~130 ms) nhờ kiểm soát luồng.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→ </a:t>
            </a:r>
            <a:r>
              <a:rPr lang="en-US" sz="30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UDP gây lag cho toàn mạng.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3222" y="194392"/>
            <a:ext cx="14449104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Kết quả mô phỏng</a:t>
            </a: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Độ trễ (Delay)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19448" y="2432960"/>
            <a:ext cx="14449104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4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Kết luận: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288767"/>
            <a:ext cx="16218789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Ngưỡng chịu tải: Tốt nhất dưới 50 Client.</a:t>
            </a:r>
          </a:p>
          <a:p>
            <a:pPr algn="l">
              <a:lnSpc>
                <a:spcPts val="3900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Giao thức UDP: Nhanh nhưng gây nghẽn (Loss ~75%).</a:t>
            </a:r>
          </a:p>
          <a:p>
            <a:pPr algn="l">
              <a:lnSpc>
                <a:spcPts val="3900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Giao thức TCP: Chậm nhưng ổn định (Loss &lt;18%).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98411" y="4798093"/>
            <a:ext cx="13891177" cy="113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DAG5syH2sGU</dc:identifier>
  <dcterms:modified xsi:type="dcterms:W3CDTF">2011-08-01T06:04:30Z</dcterms:modified>
  <cp:revision>1</cp:revision>
  <dc:title>Khả năng lãnh đạo trong khủng hoảng</dc:title>
</cp:coreProperties>
</file>